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ptos"/>
              </a:rPr>
              <a:t>Pain intensity by process area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Pain intensity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Manual reporting</c:v>
                  </c:pt>
                  <c:pt idx="1">
                    <c:v>Assignment gaps</c:v>
                  </c:pt>
                  <c:pt idx="2">
                    <c:v>SLA visibility</c:v>
                  </c:pt>
                  <c:pt idx="3">
                    <c:v>Workload visibility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Lifecycle distribution example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Lifecycle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Pt>
            <c:idx val="3"/>
            <c:bubble3D val="0"/>
            <c:spPr>
              <a:solidFill>
                <a:srgbClr val="F17CB0"/>
              </a:solidFill>
              <a:effectLst/>
            </c:spPr>
          </c:dPt>
          <c:dPt>
            <c:idx val="4"/>
            <c:bubble3D val="0"/>
            <c:spPr>
              <a:solidFill>
                <a:srgbClr val="B2912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New/Triaged</c:v>
                </c:pt>
                <c:pt idx="1">
                  <c:v>Assigned/In Progress</c:v>
                </c:pt>
                <c:pt idx="2">
                  <c:v>Pending</c:v>
                </c:pt>
                <c:pt idx="3">
                  <c:v>Escalated</c:v>
                </c:pt>
                <c:pt idx="4">
                  <c:v>Resolved/Closed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</c:v>
                </c:pt>
                <c:pt idx="1">
                  <c:v>31</c:v>
                </c:pt>
                <c:pt idx="2">
                  <c:v>11</c:v>
                </c:pt>
                <c:pt idx="3">
                  <c:v>6</c:v>
                </c:pt>
                <c:pt idx="4">
                  <c:v>40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Monthly case volume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Aug</c:v>
                  </c:pt>
                  <c:pt idx="1">
                    <c:v>Sep</c:v>
                  </c:pt>
                  <c:pt idx="2">
                    <c:v>Oct</c:v>
                  </c:pt>
                  <c:pt idx="3">
                    <c:v>Nov</c:v>
                  </c:pt>
                  <c:pt idx="4">
                    <c:v>Dec</c:v>
                  </c:pt>
                  <c:pt idx="5">
                    <c:v>Jan</c:v>
                  </c:pt>
                  <c:pt idx="6">
                    <c:v>Feb</c:v>
                  </c:pt>
                  <c:pt idx="7">
                    <c:v>Mar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420</c:v>
                </c:pt>
                <c:pt idx="1">
                  <c:v>520</c:v>
                </c:pt>
                <c:pt idx="2">
                  <c:v>690</c:v>
                </c:pt>
                <c:pt idx="3">
                  <c:v>610</c:v>
                </c:pt>
                <c:pt idx="4">
                  <c:v>500</c:v>
                </c:pt>
                <c:pt idx="5">
                  <c:v>620</c:v>
                </c:pt>
                <c:pt idx="6">
                  <c:v>740</c:v>
                </c:pt>
                <c:pt idx="7">
                  <c:v>680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Executive score inputs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SLA</c:v>
                  </c:pt>
                  <c:pt idx="1">
                    <c:v>Backlog</c:v>
                  </c:pt>
                  <c:pt idx="2">
                    <c:v>Reopen</c:v>
                  </c:pt>
                  <c:pt idx="3">
                    <c:v>Response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22</c:v>
                </c:pt>
                <c:pt idx="2">
                  <c:v>6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SafePulse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14884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School Well-being Operations &amp; Analytics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" y="288036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Helping schools improve student support operations through workflow intelligence, operational analytics, and executive decision support.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1444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D2FE"/>
                </a:solidFill>
              </a:rPr>
              <a:t>24 weeks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1856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modeled implementation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89720" y="1444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D2FE"/>
                </a:solidFill>
              </a:rPr>
              <a:t>1M+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89720" y="1856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synthetic records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52760" y="14447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D2FE"/>
                </a:solidFill>
              </a:rPr>
              <a:t>112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652760" y="1856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SQL assets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4983480"/>
            <a:ext cx="10607040" cy="640080"/>
          </a:xfrm>
          <a:prstGeom prst="roundRect">
            <a:avLst>
              <a:gd name="adj" fmla="val 11429"/>
            </a:avLst>
          </a:prstGeom>
          <a:solidFill>
            <a:srgbClr val="26395C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5074920"/>
            <a:ext cx="10387584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</a:rPr>
              <a:t>Not a diagnosis or prediction system. SafePulse focuses only on operations: workload, response times, SLA, bottlenecks, reporting, and planning.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discovery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operating problem schools cannot see clearly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</a:rPr>
              <a:t>Thousands of support requests move through disconnected workflows.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103120"/>
            <a:ext cx="224942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Fragmented intake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Email, forms, phone, teacher referrals, parent concerns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20116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103120"/>
            <a:ext cx="224942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Manual assignment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Ownership depends on local knowledge and spreadsheet updates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0116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103120"/>
            <a:ext cx="224942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Delayed follow-up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Reminders are scattered across calendars and inboxes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81160" y="201168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0888" y="2103120"/>
            <a:ext cx="197510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Weak reporting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Executives wait for manual consolidation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45536" y="2542032"/>
            <a:ext cx="329184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2542032"/>
            <a:ext cx="32004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15400" y="2542032"/>
            <a:ext cx="32004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" y="3886200"/>
            <a:ext cx="48463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2303C"/>
                </a:solidFill>
              </a:rPr>
              <a:t>Leaders cannot reliably compare workload across schools.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Counselors do not have a single operational queue.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SLA breaches are discovered after the delay already happened.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Staffing decisions are reactive instead of capacity-driven.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46520" y="3749040"/>
          <a:ext cx="46634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vision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SafePulse creates one operational system of record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FF6EF"/>
          </a:solidFill>
          <a:ln w="12700">
            <a:solidFill>
              <a:srgbClr val="B8E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45920"/>
            <a:ext cx="183794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</a:rPr>
              <a:t>Standardized intake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1938528"/>
            <a:ext cx="54864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20440" y="1554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FF6EF"/>
          </a:solidFill>
          <a:ln w="12700">
            <a:solidFill>
              <a:srgbClr val="B8E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1645920"/>
            <a:ext cx="183794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</a:rPr>
              <a:t>SLA-based triage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1938528"/>
            <a:ext cx="54864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63640" y="155448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DFF6EF"/>
          </a:solidFill>
          <a:ln w="12700">
            <a:solidFill>
              <a:srgbClr val="B8E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645920"/>
            <a:ext cx="206654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</a:rPr>
              <a:t>Capacity-aware assignment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13648" y="1938528"/>
            <a:ext cx="57607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81160" y="15544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DFF6EF"/>
          </a:solidFill>
          <a:ln w="12700">
            <a:solidFill>
              <a:srgbClr val="B8E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0888" y="1645920"/>
            <a:ext cx="183794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</a:rPr>
              <a:t>Executive dashboards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2880360"/>
            <a:ext cx="10149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2971800"/>
            <a:ext cx="993038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</a:rPr>
              <a:t>Case lifecycle: New → Triaged → Assigned → In Progress → Follow-up → Escalated/Resolved → Closed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25–35%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4617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response time reduction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20–30%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0" y="4617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SLA improvement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15–25%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0" y="4617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backlog reduction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0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30–40%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0" y="46177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reporting effort reduction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Role-based design aligns every stakeholder to a decision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08760"/>
            <a:ext cx="224942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Superintendent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District trends, board reporting, staffing priorities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508760"/>
            <a:ext cx="224942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Principal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School backlog, SLA breaches, workload 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508760"/>
            <a:ext cx="224942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Operations Director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Process bottlenecks, escalations, adherence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69680" y="14173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79408" y="1508760"/>
            <a:ext cx="2249424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Counselor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My cases, follow-ups, notes, due items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3063240"/>
            <a:ext cx="8595360" cy="0"/>
          </a:xfrm>
          <a:prstGeom prst="line">
            <a:avLst/>
          </a:prstGeom>
          <a:noFill/>
          <a:ln w="25400">
            <a:solidFill>
              <a:srgbClr val="2D6C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2834640"/>
            <a:ext cx="347472" cy="34747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735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Executive visibility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2834640"/>
            <a:ext cx="347472" cy="34747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2735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School accountability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2834640"/>
            <a:ext cx="347472" cy="34747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2735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Workflow control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966960" y="2834640"/>
            <a:ext cx="347472" cy="34747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32735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Day-to-day 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Governance artifacts created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74720" y="4553712"/>
            <a:ext cx="777240" cy="301752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461772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RACI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89120" y="4553712"/>
            <a:ext cx="914400" cy="301752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461772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RASCI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0680" y="4553712"/>
            <a:ext cx="1234440" cy="301752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46177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Power/Interest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12280" y="4553712"/>
            <a:ext cx="1325880" cy="301752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46177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Comms Matrix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275320" y="4553712"/>
            <a:ext cx="1508760" cy="301752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8472" y="461772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Escalation Matrix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engineering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Traceability connects business value to tested delivery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54480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Business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87168" y="1828800"/>
            <a:ext cx="30175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4630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A5C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554480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Functional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Requirements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0288" y="1828800"/>
            <a:ext cx="30175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37760" y="14630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554480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User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Stories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93408" y="1828800"/>
            <a:ext cx="30175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40880" y="14630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A5C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1554480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Test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Cases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96528" y="1828800"/>
            <a:ext cx="30175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0" y="14630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3728" y="1554480"/>
            <a:ext cx="13807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Dashboards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&amp; KPIs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Example trace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3337560"/>
            <a:ext cx="10561320" cy="365760"/>
          </a:xfrm>
          <a:prstGeom prst="rect">
            <a:avLst/>
          </a:prstGeom>
          <a:solidFill>
            <a:srgbClr val="1B2A41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4107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BREQ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333756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34107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34107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333756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38544" y="34107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333756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58784" y="341071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3703320"/>
            <a:ext cx="1056132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37764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BREQ-003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370332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98064" y="37764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FR-004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70332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37764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US-0401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370332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37764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TC-SLA-001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03920" y="370332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58784" y="377647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SLA Compliance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" y="4069080"/>
            <a:ext cx="1056132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" y="41422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BREQ-005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0" y="406908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98064" y="41422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FR-005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406908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41422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US-0303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0" y="406908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8544" y="41422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TC-FOLLOWUP-002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03920" y="406908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58784" y="414223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Case Aging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2960" y="4434840"/>
            <a:ext cx="1056132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7824" y="45079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BREQ-004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0" y="443484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98064" y="45079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FR-009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443484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18304" y="45079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US-0502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583680" y="443484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8544" y="45079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TC-DASH-001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503920" y="4434840"/>
            <a:ext cx="0" cy="365760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58784" y="450799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03C"/>
                </a:solidFill>
              </a:rPr>
              <a:t>School Performance Index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14400" y="5532120"/>
            <a:ext cx="10058400" cy="502920"/>
          </a:xfrm>
          <a:prstGeom prst="roundRect">
            <a:avLst>
              <a:gd name="adj" fmla="val 14545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4128" y="5623560"/>
            <a:ext cx="983894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Delivery control: every KPI is backed by SQL, every dashboard maps to a persona, and every requirement maps to stories and UAT.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TO-BE process standardizes intake through closure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00200"/>
            <a:ext cx="7863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</a:rPr>
              <a:t>Intake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847088"/>
            <a:ext cx="21031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65960" y="150876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1600200"/>
            <a:ext cx="7863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</a:rPr>
              <a:t>Triage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86200" y="1847088"/>
            <a:ext cx="21031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91840" y="150876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600200"/>
            <a:ext cx="7863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</a:rPr>
              <a:t>Assign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1847088"/>
            <a:ext cx="21031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17720" y="150876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600200"/>
            <a:ext cx="7863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</a:rPr>
              <a:t>Work Case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1847088"/>
            <a:ext cx="21031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150876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1600200"/>
            <a:ext cx="7863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</a:rPr>
              <a:t>Follow-up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63840" y="1847088"/>
            <a:ext cx="21031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9480" y="150876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9208" y="1600200"/>
            <a:ext cx="7863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</a:rPr>
              <a:t>Escalate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89720" y="1847088"/>
            <a:ext cx="21031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95360" y="150876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1600200"/>
            <a:ext cx="7863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</a:rPr>
              <a:t>Resolve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15600" y="1847088"/>
            <a:ext cx="210312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921240" y="150876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30968" y="1600200"/>
            <a:ext cx="78638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</a:rPr>
              <a:t>Close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Process controls embedded into workflow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3474720"/>
            <a:ext cx="45720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2303C"/>
                </a:solidFill>
              </a:rPr>
              <a:t>SLA clock starts at submission.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Triage queue sorts by urgency and age.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Assignments consider eligibility and workload.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Escalations are standardized by reason and department.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Status history and audit logs are created automatically.</a:t>
            </a:r>
            <a:endParaRPr lang="en-US" sz="12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492240" y="3063240"/>
          <a:ext cx="42062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 supports both case workflow and analytics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880360" y="1874520"/>
            <a:ext cx="96012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32120" y="1874520"/>
            <a:ext cx="96012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183880" y="1874520"/>
            <a:ext cx="96012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14173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508760"/>
            <a:ext cx="2066544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Reference data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Schools, users, roles, categories, SLA, terms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0208" y="1508760"/>
            <a:ext cx="1472184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Operational facts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Requests, assignments, notes, follow-ups, escalations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14173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508760"/>
            <a:ext cx="1472184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Workflow history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Status changes, audit logs, notifications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14173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3728" y="1508760"/>
            <a:ext cx="1837944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Analytics model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Facts, dimensions, measures, RLS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1,041,067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synthetic rows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3749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24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91840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core tables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3749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70k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support requests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3749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280k+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4160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status events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84080" y="3749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112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84080" y="4160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SQL queries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5840" y="5532120"/>
            <a:ext cx="1005840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A5C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5568" y="5623560"/>
            <a:ext cx="983894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Design principle: normalized operational tables feed validated views and dimensional facts for Power BI/Tableau.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analytics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framework answers executive operating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760720" cy="402336"/>
          </a:xfrm>
          <a:prstGeom prst="rect">
            <a:avLst/>
          </a:prstGeom>
          <a:solidFill>
            <a:srgbClr val="1B2A41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49047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Question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5264" y="149047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49047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Decision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1819656"/>
            <a:ext cx="576072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89280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Which schools need counselors?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819656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89280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Utilization + backlog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46320" y="1819656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89280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Staffing allocation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2221992"/>
            <a:ext cx="576072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29514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Where are bottlenecks?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2221992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229514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Time in status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2221992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2295144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Process redesign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2624328"/>
            <a:ext cx="576072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269748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Are schools meeting SLAs?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0" y="2624328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269748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Response/resolution SLA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2624328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697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Governance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" y="3026664"/>
            <a:ext cx="576072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3099816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Which categories are rising?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3026664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55264" y="309981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Monthly trend + mix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3026664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09981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Planning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" y="3429000"/>
            <a:ext cx="576072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350215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Are closures sustainable?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0" y="3429000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55264" y="350215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Reopen rate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3429000"/>
            <a:ext cx="0" cy="402336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350215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303C"/>
                </a:solidFill>
              </a:rPr>
              <a:t>Quality controls</a:t>
            </a:r>
            <a:endParaRPr lang="en-US" sz="85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6903720" y="1417320"/>
          <a:ext cx="4389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3" name="Chart 1" descr=""/>
          <p:cNvGraphicFramePr/>
          <p:nvPr/>
        </p:nvGraphicFramePr>
        <p:xfrm>
          <a:off x="6903720" y="3977640"/>
          <a:ext cx="43891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Text 40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design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ecosystem is role-specific, not one-size-fits-all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08760"/>
            <a:ext cx="1929384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</a:rPr>
              <a:t>District Superintendent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</a:rPr>
              <a:t>Trends, school comparisons, staffing signals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63240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1508760"/>
            <a:ext cx="1929384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</a:rPr>
              <a:t>Principal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</a:rPr>
              <a:t>School backlog, SLA breaches, owner workload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40680" y="14173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0408" y="1508760"/>
            <a:ext cx="1929384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</a:rPr>
              <a:t>Operations Director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</a:rPr>
              <a:t>Bottlenecks, escalations, process health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1417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7848" y="1508760"/>
            <a:ext cx="1792224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</a:rPr>
              <a:t>Counselor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</a:rPr>
              <a:t>My cases, due items, follow-up queue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104120" y="141732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13848" y="1508760"/>
            <a:ext cx="923544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</a:rPr>
              <a:t>Executive Leadership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</a:rPr>
              <a:t>Board-ready reporting and snapshots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Power BI design features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429000"/>
            <a:ext cx="640080" cy="301752"/>
          </a:xfrm>
          <a:prstGeom prst="roundRect">
            <a:avLst>
              <a:gd name="adj" fmla="val 18182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493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45920" y="3429000"/>
            <a:ext cx="1143000" cy="301752"/>
          </a:xfrm>
          <a:prstGeom prst="roundRect">
            <a:avLst>
              <a:gd name="adj" fmla="val 18182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19072" y="349300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Drillthrough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71800" y="3429000"/>
            <a:ext cx="1051560" cy="301752"/>
          </a:xfrm>
          <a:prstGeom prst="roundRect">
            <a:avLst>
              <a:gd name="adj" fmla="val 18182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4952" y="3493008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Bookmarks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06240" y="3429000"/>
            <a:ext cx="868680" cy="301752"/>
          </a:xfrm>
          <a:prstGeom prst="roundRect">
            <a:avLst>
              <a:gd name="adj" fmla="val 18182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3493008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Tooltips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57800" y="3429000"/>
            <a:ext cx="914400" cy="301752"/>
          </a:xfrm>
          <a:prstGeom prst="roundRect">
            <a:avLst>
              <a:gd name="adj" fmla="val 18182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0952" y="3493008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Heatmaps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55080" y="3429000"/>
            <a:ext cx="1097280" cy="301752"/>
          </a:xfrm>
          <a:prstGeom prst="roundRect">
            <a:avLst>
              <a:gd name="adj" fmla="val 18182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349300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Forecasting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635240" y="3429000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349300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What-if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641080" y="3429000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349300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Exports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88720" y="5166360"/>
            <a:ext cx="9418320" cy="54864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A5C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98448" y="5257800"/>
            <a:ext cx="919886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</a:rPr>
              <a:t>All dashboard measures are supported by the SQL views and KPI base table in the repository.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&amp; UAT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validates workflow, data, security, and adoption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1325880" cy="1325880"/>
          </a:xfrm>
          <a:prstGeom prst="ellipse">
            <a:avLst/>
          </a:prstGeom>
          <a:solidFill>
            <a:srgbClr val="2D6CDF">
              <a:alpha val="92000"/>
            </a:srgbClr>
          </a:solidFill>
          <a:ln w="1905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84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Functional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1508760"/>
            <a:ext cx="1325880" cy="1325880"/>
          </a:xfrm>
          <a:prstGeom prst="ellipse">
            <a:avLst/>
          </a:prstGeom>
          <a:solidFill>
            <a:srgbClr val="0F766E">
              <a:alpha val="92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984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validation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508760"/>
            <a:ext cx="1325880" cy="1325880"/>
          </a:xfrm>
          <a:prstGeom prst="ellipse">
            <a:avLst/>
          </a:prstGeom>
          <a:solidFill>
            <a:srgbClr val="DC2626">
              <a:alpha val="92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984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Security/RLS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43800" y="1508760"/>
            <a:ext cx="1325880" cy="1325880"/>
          </a:xfrm>
          <a:prstGeom prst="ellipse">
            <a:avLst/>
          </a:prstGeom>
          <a:solidFill>
            <a:srgbClr val="F59E0B">
              <a:alpha val="9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1984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Accessibility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784080" y="1508760"/>
            <a:ext cx="1325880" cy="1325880"/>
          </a:xfrm>
          <a:prstGeom prst="ellipse">
            <a:avLst/>
          </a:prstGeom>
          <a:solidFill>
            <a:srgbClr val="16A34A">
              <a:alpha val="92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19842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3429000"/>
            <a:ext cx="10149840" cy="329184"/>
          </a:xfrm>
          <a:prstGeom prst="rect">
            <a:avLst/>
          </a:prstGeom>
          <a:solidFill>
            <a:srgbClr val="1B2A41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5021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 family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3429000"/>
            <a:ext cx="0" cy="329184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3502152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Examples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3758184"/>
            <a:ext cx="101498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83133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303C"/>
                </a:solidFill>
              </a:rPr>
              <a:t>Intake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3758184"/>
            <a:ext cx="0" cy="329184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8144" y="3831336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303C"/>
                </a:solidFill>
              </a:rPr>
              <a:t>Required fields, validation, audit creation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05840" y="4087368"/>
            <a:ext cx="101498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416052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303C"/>
                </a:solidFill>
              </a:rPr>
              <a:t>Assignment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4087368"/>
            <a:ext cx="0" cy="329184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8144" y="4160520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303C"/>
                </a:solidFill>
              </a:rPr>
              <a:t>Eligibility, active user filter, reassignment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05840" y="4416552"/>
            <a:ext cx="101498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" y="448970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303C"/>
                </a:solidFill>
              </a:rPr>
              <a:t>SLA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4416552"/>
            <a:ext cx="0" cy="329184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4489704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303C"/>
                </a:solidFill>
              </a:rPr>
              <a:t>Response due, breach flags, dashboard exception list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05840" y="4745736"/>
            <a:ext cx="101498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481888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303C"/>
                </a:solidFill>
              </a:rPr>
              <a:t>RLS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83280" y="4745736"/>
            <a:ext cx="0" cy="329184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8144" y="4818888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303C"/>
                </a:solidFill>
              </a:rPr>
              <a:t>Principal cannot view another school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5840" y="5074920"/>
            <a:ext cx="101498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0704" y="514807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303C"/>
                </a:solidFill>
              </a:rPr>
              <a:t>Dashboard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83280" y="5074920"/>
            <a:ext cx="0" cy="329184"/>
          </a:xfrm>
          <a:prstGeom prst="line">
            <a:avLst/>
          </a:prstGeom>
          <a:noFill/>
          <a:ln w="8890">
            <a:solidFill>
              <a:srgbClr val="D6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38144" y="5148072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303C"/>
                </a:solidFill>
              </a:rPr>
              <a:t>SQL counts match visual totals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management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24-week roadmap resembles a real consulting implementation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A5C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920240"/>
            <a:ext cx="110642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Discovery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Weeks 1–4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2240280"/>
            <a:ext cx="27432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21408" y="182880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1920240"/>
            <a:ext cx="110642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Design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Weeks 5–8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93008" y="2240280"/>
            <a:ext cx="27432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39896" y="18288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A5C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1920240"/>
            <a:ext cx="115214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Build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Weeks 9–14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57216" y="2240280"/>
            <a:ext cx="27432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04104" y="18288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1920240"/>
            <a:ext cx="115214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Build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Weeks 15–18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21424" y="2240280"/>
            <a:ext cx="27432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68312" y="18288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A5C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920240"/>
            <a:ext cx="87782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Weeks 19–20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11312" y="2240280"/>
            <a:ext cx="27432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58200" y="18288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67928" y="1920240"/>
            <a:ext cx="87782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UAT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Weeks 21–23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0" y="2240280"/>
            <a:ext cx="27432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48088" y="18288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EAF2FF"/>
          </a:solidFill>
          <a:ln w="12700">
            <a:solidFill>
              <a:srgbClr val="A5C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57816" y="1920240"/>
            <a:ext cx="87782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Pilot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</a:rPr>
              <a:t>Weeks 24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Delivery controls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114800"/>
            <a:ext cx="48463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2303C"/>
                </a:solidFill>
              </a:rPr>
              <a:t>RAID log and decision authority matrix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Biweekly sprint reviews with business users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UAT sign-off by operations and school representatives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Change management with training and champion network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Portfolio artifacts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7960" y="4114800"/>
            <a:ext cx="43891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2303C"/>
                </a:solidFill>
              </a:rPr>
              <a:t>GitHub-ready repository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Excel delivery workbook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Executive presentation</a:t>
            </a:r>
            <a:endParaRPr lang="en-US" sz="1200" dirty="0"/>
          </a:p>
          <a:p>
            <a:r>
              <a:rPr lang="en-US" sz="1200" dirty="0">
                <a:solidFill>
                  <a:srgbClr val="22303C"/>
                </a:solidFill>
              </a:rPr>
              <a:t>Resume bullets and STAR stories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package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present SafePulse in interviews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School well-being operations &amp; analytics platform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08760"/>
            <a:ext cx="307238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1. Business problem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Schools lacked operational visibility across cases, SLAs, workload, and reporting.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508760"/>
            <a:ext cx="307238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2. BA delivery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Created BRD, FRD, RACI, personas, process flows, user stories, RTM, UAT.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68" y="1508760"/>
            <a:ext cx="3072384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3. Data delivery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</a:rPr>
              <a:t>Designed schema, 1M+ synthetic records, SQL library, KPI framework, dashboards.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24612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3337560"/>
            <a:ext cx="9747504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</a:rPr>
              <a:t>Interview positioning: “I built this like a consulting implementation, from discovery to requirements to data model to analytics to testing.”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8+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requirements mapped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4846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24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91840" y="5257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user stories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94960" y="4846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30+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5257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test cases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0" y="4846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06640" y="5257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dashboard roles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235440" y="4846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15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35440" y="5257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project phases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SafePulse Executive Presentation</dc:title>
  <dc:subject>SafePulse Enterprise Portfolio Case Study</dc:subject>
  <dc:creator>OpenAI</dc:creator>
  <cp:lastModifiedBy>OpenAI</cp:lastModifiedBy>
  <cp:revision>1</cp:revision>
  <dcterms:created xsi:type="dcterms:W3CDTF">2026-07-17T05:16:42Z</dcterms:created>
  <dcterms:modified xsi:type="dcterms:W3CDTF">2026-07-17T05:16:42Z</dcterms:modified>
</cp:coreProperties>
</file>